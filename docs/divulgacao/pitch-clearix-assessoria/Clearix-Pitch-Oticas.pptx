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Acumulado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0.31</c:v>
                </c:pt>
                <c:pt idx="1">
                  <c:v>2.15</c:v>
                </c:pt>
                <c:pt idx="2">
                  <c:v>4.99</c:v>
                </c:pt>
                <c:pt idx="3">
                  <c:v>8.16</c:v>
                </c:pt>
                <c:pt idx="4">
                  <c:v>10.59</c:v>
                </c:pt>
                <c:pt idx="5">
                  <c:v>11.71</c:v>
                </c:pt>
                <c:pt idx="6">
                  <c:v>12.24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6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6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E2A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6035040" y="182880"/>
            <a:ext cx="4206240" cy="4206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Clearix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502920" y="1783080"/>
            <a:ext cx="8092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ecossistema operacional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sua ótica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521208" y="332841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3"/>
          <p:cNvSpPr/>
          <p:nvPr/>
        </p:nvSpPr>
        <p:spPr>
          <a:xfrm>
            <a:off x="758952" y="31729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Vender, produzir no laboratório, cobrar e fidelizar — tudo num lugar só.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para [Nome da Ótica]   ·   Junho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1089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Soa familiar?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167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dia a dia de uma ótica sem sistema integrado.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755648"/>
            <a:ext cx="39319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2066544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2232965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27048" y="1975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cliente que sumiu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27048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Comprou há 8 meses. Ninguém ligou.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09160" y="1755648"/>
            <a:ext cx="39319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65192" y="2066544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613" y="2232965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33288" y="1975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lente perdida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733288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entre a venda e o laboratório.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3127248"/>
            <a:ext cx="39319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58952" y="3438144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3604565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27048" y="3346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caixa no papel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527048" y="3730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Fechando à mão, de novo, hoje à noite.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709160" y="3127248"/>
            <a:ext cx="39319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965192" y="3438144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1613" y="3604565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733288" y="3346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WhatsApp pessoal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733288" y="3730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Lotado, sem histórico, no celular do vendedor.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02920" y="45262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A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falta de esforço. É falta de sistema.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1089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TRAVA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3 dores que travam o crescimento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167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Têm a mesma raiz: informação espalhada.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755648"/>
            <a:ext cx="2615184" cy="27889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1938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8952" y="25237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cliente some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9260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manual fica em ~3% dos clientes.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58952" y="3803904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80390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cliente perdido = R$ 800–1.500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01568" y="1755648"/>
            <a:ext cx="2615184" cy="27889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0" y="1938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657600" y="25237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Caos de sistemas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57600" y="29260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PDV, estoque, laboratório e caixa soltos.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657600" y="3803904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7328" y="380390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dado digitado 3×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0216" y="1755648"/>
            <a:ext cx="2615184" cy="27889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56248" y="1938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556248" y="25237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escala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56248" y="29260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visão consolidada da rede.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556248" y="3803904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65976" y="380390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2ª loja é dor. A 5ª, pesadelo.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1089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VIRADA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ecossistema, não mais um programa.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73736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único — entra uma vez, usa tudo.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loja vê só o que é dela.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dado entra uma vez e flui sozinho.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Acaba a planilha solta e o caderno do laboratório.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29200" y="1627632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85232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LOGIN, SEIS FRENTES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21808" y="2313432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5541264" y="2249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Vendas (PDV + carnê)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321808" y="269748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5541264" y="26334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Laboratório (DCL)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321808" y="3081528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5541264" y="3017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Financeiro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321808" y="3465576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5541264" y="34015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Clínica &amp; receitas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321808" y="384962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5541264" y="37856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&amp; fidelidade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321808" y="4233672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5541264" y="4169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 com IA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Clearix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 REAL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Isto não é maquete.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Já roda uma rede de verdade, em produção.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R$ 12,2M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faturados no histórico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95728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20.597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2395728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vendas processadas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mil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50292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ordens de laboratório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95728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mil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2395728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pacientes atendidos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E97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Faturamento acumulado (R$ milhões)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434840" y="2240280"/>
          <a:ext cx="42976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3"/>
          <p:cNvSpPr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7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Mello — 10 lojas, 5+ anos de operação 100% no Clearix.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1089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fluxo só, da venda à entrega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167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ninguém digitar a mesma coisa duas vezes.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1783080" cy="18745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2331720"/>
            <a:ext cx="502920" cy="50292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59" y="246247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28895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02920" y="32369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94360" y="35844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PDV + carnê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621585" y="2148840"/>
            <a:ext cx="1783080" cy="18745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61665" y="2331720"/>
            <a:ext cx="502920" cy="50292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46247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21585" y="28895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2621585" y="32369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Produzir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713025" y="35844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em kanban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40250" y="2148840"/>
            <a:ext cx="1783080" cy="18745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380330" y="2331720"/>
            <a:ext cx="502920" cy="50292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089" y="246247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40250" y="28895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740250" y="32369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831690" y="35844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Financeiro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858914" y="2148840"/>
            <a:ext cx="1783080" cy="18745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994" y="2331720"/>
            <a:ext cx="502920" cy="50292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4" y="246247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914" y="28895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6858914" y="32369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Avisar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6950354" y="35844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+ portal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267712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800" dirty="0"/>
          </a:p>
        </p:txBody>
      </p:sp>
      <p:sp>
        <p:nvSpPr>
          <p:cNvPr id="31" name="Text 24"/>
          <p:cNvSpPr/>
          <p:nvPr/>
        </p:nvSpPr>
        <p:spPr>
          <a:xfrm>
            <a:off x="4386377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800" dirty="0"/>
          </a:p>
        </p:txBody>
      </p:sp>
      <p:sp>
        <p:nvSpPr>
          <p:cNvPr id="32" name="Text 25"/>
          <p:cNvSpPr/>
          <p:nvPr/>
        </p:nvSpPr>
        <p:spPr>
          <a:xfrm>
            <a:off x="6505042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50292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etapa alimenta a próxima automaticamente.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1089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PRÁTICA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cada etapa entrega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627632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01952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2049353"/>
            <a:ext cx="272125" cy="272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72184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72184" y="221284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Crediário próprio da loja, sem taxa de terceiro. Menos venda perdida por desorganização.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09160" y="1627632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83480" y="1901952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81" y="2049353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78424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Produzir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678424" y="221284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lente nunca se perde. O laboratório sabe o que fazer. Alerta automático de atraso.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2920" y="3127248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3401568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3548969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72184" y="3328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72184" y="371246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Contas, parcelas e fluxo num lugar só. Uma IA explica o resultado do mês em português.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709160" y="3127248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983480" y="3401568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881" y="3548969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78424" y="3328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Avisar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678424" y="371246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automático quando o óculos fica pronto. Portal do paciente sem senha.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1089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DIFERENCIAIS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(quase) ninguém mais tem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664208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20240"/>
            <a:ext cx="603504" cy="603504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51" y="2077151"/>
            <a:ext cx="289682" cy="289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6700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do paciente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senha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77240" y="34015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por link no WhatsApp: receita, histórico e status do pedido. LGPD por design.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01568" y="1664208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75888" y="1920240"/>
            <a:ext cx="603504" cy="603504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799" y="2077151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75888" y="26700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 lentes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canônico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675888" y="34015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Busque “Varilux” e veja todas as opções, de todos os fornecedores, com preço e margem.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00216" y="1664208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74536" y="1920240"/>
            <a:ext cx="603504" cy="603504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447" y="2077151"/>
            <a:ext cx="289682" cy="2896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74536" y="26700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 com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74536" y="34015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 em português. Veja de quais bairros vêm os seus clientes.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44074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ainda vem por aí: prova virtual de óculos pelo celular (AR).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1089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INVESTIMENTO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custa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517904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517904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Recriar um sistema assim do zero custaria </a:t>
            </a:r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de R$ 7,7 milhões</a:t>
            </a:r>
            <a:pPr algn="ctr" indent="0" marL="0">
              <a:buNone/>
            </a:pPr>
            <a:r>
              <a:rPr lang="en-US" sz="1400" dirty="0">
                <a:solidFill>
                  <a:srgbClr val="D6E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mais de um ano.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Essencial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8952" y="2962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R$ 349</a:t>
            </a:r>
            <a:pPr indent="0" marL="0">
              <a:buNone/>
            </a:pPr>
            <a:r>
              <a:rPr lang="en-US" sz="1200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/mês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58952" y="352958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Ótica solo — 3 a 5 pessoas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01568" y="233172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0F9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ESCOLHIDO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0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657600" y="2962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R$ 899</a:t>
            </a:r>
            <a:pPr indent="0" marL="0">
              <a:buNone/>
            </a:pPr>
            <a:r>
              <a:rPr lang="en-US" sz="1200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/mês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657600" y="352958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Multi-loja com laboratório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00216" y="233172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56248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556248" y="2962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R$ 1.499</a:t>
            </a:r>
            <a:pPr indent="0" marL="0">
              <a:buNone/>
            </a:pPr>
            <a:r>
              <a:rPr lang="en-US" sz="1200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/mês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556248" y="352958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BI + IA + escala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" y="426110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Mercado Pago · sem cartão preso · sem fidelidade · Completo (rede/franquia): sob consulta.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1089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acredite — entre e veja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167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às 3 lojas-modelo, com dados reais de operação.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2615184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75104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978408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Essencial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26771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loja — operação enxuta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779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ENTRA COMO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5528" y="313639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996696" y="30723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 — vê tudo + BI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5528" y="350215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996696" y="34381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 — operação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5528" y="386791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996696" y="38039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Vendedor — balcão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01568" y="1737360"/>
            <a:ext cx="2615184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75888" y="1975104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75888" y="226771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Multi-loja com laboratório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75888" y="2779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ENTRA COMO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94176" y="313639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3895344" y="30723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 — vê tudo + BI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694176" y="350215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3895344" y="34381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 — operação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694176" y="386791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7" name="Text 24"/>
          <p:cNvSpPr/>
          <p:nvPr/>
        </p:nvSpPr>
        <p:spPr>
          <a:xfrm>
            <a:off x="3895344" y="38039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Vendedor — balcão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300216" y="1737360"/>
            <a:ext cx="2615184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574536" y="1975104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0" name="Text 27"/>
          <p:cNvSpPr/>
          <p:nvPr/>
        </p:nvSpPr>
        <p:spPr>
          <a:xfrm>
            <a:off x="6775704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74536" y="226771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 + BI + IA + fidelidade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74536" y="2779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ENTRA COMO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592824" y="313639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4" name="Text 31"/>
          <p:cNvSpPr/>
          <p:nvPr/>
        </p:nvSpPr>
        <p:spPr>
          <a:xfrm>
            <a:off x="6793992" y="30723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 — vê tudo + BI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592824" y="350215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6" name="Text 33"/>
          <p:cNvSpPr/>
          <p:nvPr/>
        </p:nvSpPr>
        <p:spPr>
          <a:xfrm>
            <a:off x="6793992" y="34381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 — operação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592824" y="386791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8" name="Text 35"/>
          <p:cNvSpPr/>
          <p:nvPr/>
        </p:nvSpPr>
        <p:spPr>
          <a:xfrm>
            <a:off x="6793992" y="38039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Vendedor — balcão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502920" y="44256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com cada perfil e veja o sistema pelos olhos de quem usa — cada um enxerga só o que pode.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11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Clearix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987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COMECE SEM RISCO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070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sua ótica, testada de verdade.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205740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2A50B8"/>
          </a:solidFill>
          <a:ln w="9525">
            <a:solidFill>
              <a:srgbClr val="3B66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9224" y="2157984"/>
            <a:ext cx="365760" cy="3657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2" y="2253082"/>
            <a:ext cx="175565" cy="17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97864" y="20574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dias grátis, sem cartão   </a:t>
            </a:r>
            <a:pPr indent="0" marL="0">
              <a:buNone/>
            </a:pPr>
            <a:r>
              <a:rPr lang="en-US" sz="1250" dirty="0">
                <a:solidFill>
                  <a:srgbClr val="CBD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Comece hoje, sem compromisso. Depois é mensal via Mercado Pago — sem cartão preso, sem fidelidade.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2715768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2A50B8"/>
          </a:solidFill>
          <a:ln w="9525">
            <a:solidFill>
              <a:srgbClr val="3B66D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9224" y="2816352"/>
            <a:ext cx="365760" cy="3657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2" y="2911450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97864" y="27157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Vai migrar de verdade? 90 dias + 30% OFF   </a:t>
            </a:r>
            <a:pPr indent="0" marL="0">
              <a:buNone/>
            </a:pPr>
            <a:r>
              <a:rPr lang="en-US" sz="1250" dirty="0">
                <a:solidFill>
                  <a:srgbClr val="CBD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dias com a sua empresa real e 30% OFF nos 3 primeiros meses ao virar cliente.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02920" y="3374136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2A50B8"/>
          </a:solidFill>
          <a:ln w="9525">
            <a:solidFill>
              <a:srgbClr val="3B66D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9224" y="3474720"/>
            <a:ext cx="365760" cy="3657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50800" dir="5400000">
              <a:srgbClr val="06B6D4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2" y="3569818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7864" y="33741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Migração guiada   </a:t>
            </a:r>
            <a:pPr indent="0" marL="0">
              <a:buNone/>
            </a:pPr>
            <a:r>
              <a:rPr lang="en-US" sz="1250" dirty="0">
                <a:solidFill>
                  <a:srgbClr val="CBD9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gente traz seu histórico (orçada por volume). Nada se perde.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02920" y="433425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C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não compra confiando na minha palavra. Você usa — e decide depois.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1089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PASSO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começa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167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em menos de 30 dias, sem parar a operação.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2103120"/>
            <a:ext cx="548640" cy="54864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50800" dir="5400000">
              <a:srgbClr val="06B6D4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952" y="278892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acessa as 3 lojas-modelo hoje.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401568" y="187452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103120"/>
            <a:ext cx="548640" cy="54864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50800" dir="5400000">
              <a:srgbClr val="06B6D4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57600" y="278892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Começa grátis (30 dias) — e 90 dias com a sua empresa ao decidir.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00216" y="187452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38100" dir="8100000">
              <a:srgbClr val="1A3A5C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56248" y="2103120"/>
            <a:ext cx="548640" cy="54864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50800" dir="5400000">
              <a:srgbClr val="06B6D4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5624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56248" y="278892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Treinamos a equipe; migração guiada.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2194560" y="3794760"/>
            <a:ext cx="4754880" cy="713232"/>
          </a:xfrm>
          <a:prstGeom prst="roundRect">
            <a:avLst>
              <a:gd name="adj" fmla="val 12821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94560" y="379476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liberar o seu acesso de teste agora?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6309360" y="457200"/>
            <a:ext cx="384048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Clearix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502920" y="17373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ótica operando como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 nacional — começando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semana.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21208" y="367588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3"/>
          <p:cNvSpPr/>
          <p:nvPr/>
        </p:nvSpPr>
        <p:spPr>
          <a:xfrm>
            <a:off x="758952" y="3538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[Nome do consultor]   ·   [WhatsApp]   ·   clearix.app.br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Clearix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Clearix — Pitch Óticas</dc:title>
  <dc:subject>PptxGenJS Presentation</dc:subject>
  <dc:creator>DIGIAI</dc:creator>
  <cp:lastModifiedBy>DIGIAI</cp:lastModifiedBy>
  <cp:revision>1</cp:revision>
  <dcterms:created xsi:type="dcterms:W3CDTF">2026-07-13T16:52:13Z</dcterms:created>
  <dcterms:modified xsi:type="dcterms:W3CDTF">2026-07-13T16:52:13Z</dcterms:modified>
</cp:coreProperties>
</file>