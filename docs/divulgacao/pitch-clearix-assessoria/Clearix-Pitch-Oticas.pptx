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Acumulado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  <c:pt idx="6">
                    <c:v>'26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0.31</c:v>
                </c:pt>
                <c:pt idx="1">
                  <c:v>2.15</c:v>
                </c:pt>
                <c:pt idx="2">
                  <c:v>4.99</c:v>
                </c:pt>
                <c:pt idx="3">
                  <c:v>8.16</c:v>
                </c:pt>
                <c:pt idx="4">
                  <c:v>10.59</c:v>
                </c:pt>
                <c:pt idx="5">
                  <c:v>11.71</c:v>
                </c:pt>
                <c:pt idx="6">
                  <c:v>12.24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FB6C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FB6C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0E2A4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alphaModFix amt="9000"/>
          </a:blip>
          <a:stretch>
            <a:fillRect/>
          </a:stretch>
        </p:blipFill>
        <p:spPr>
          <a:xfrm>
            <a:off x="6035040" y="182880"/>
            <a:ext cx="4206240" cy="4206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058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Clearix</a:t>
            </a:r>
            <a:endParaRPr lang="en-US" sz="2000" dirty="0"/>
          </a:p>
        </p:txBody>
      </p:sp>
      <p:sp>
        <p:nvSpPr>
          <p:cNvPr id="5" name="Text 1"/>
          <p:cNvSpPr/>
          <p:nvPr/>
        </p:nvSpPr>
        <p:spPr>
          <a:xfrm>
            <a:off x="502920" y="1783080"/>
            <a:ext cx="8092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ecossistema operacional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 sua ótica</a:t>
            </a:r>
            <a:endParaRPr lang="en-US" sz="4000" dirty="0"/>
          </a:p>
        </p:txBody>
      </p:sp>
      <p:sp>
        <p:nvSpPr>
          <p:cNvPr id="6" name="Shape 2"/>
          <p:cNvSpPr/>
          <p:nvPr/>
        </p:nvSpPr>
        <p:spPr>
          <a:xfrm>
            <a:off x="521208" y="3328416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3"/>
          <p:cNvSpPr/>
          <p:nvPr/>
        </p:nvSpPr>
        <p:spPr>
          <a:xfrm>
            <a:off x="758952" y="31729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Vender, produzir no laboratório, cobrar e fidelizar — tudo num lugar só.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02920" y="4526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Apresentação para Verônica e Michele   ·   Junho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PROBLEMA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Soa familiar?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316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dia a dia de uma ótica sem sistema integrado.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9319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8952" y="2066544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373" y="2232965"/>
            <a:ext cx="307238" cy="30723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27048" y="19751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cliente que sumiu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527048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Comprou há 8 meses. Ninguém ligou.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09160" y="1755648"/>
            <a:ext cx="39319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965192" y="2066544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1613" y="2232965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733288" y="19751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lente perdida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5733288" y="23591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entre a venda e o laboratório.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02920" y="3127248"/>
            <a:ext cx="39319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58952" y="3438144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3604565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27048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caixa no papel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1527048" y="37307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Fechando à mão, de novo, hoje à noite.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709160" y="3127248"/>
            <a:ext cx="393192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965192" y="3438144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1613" y="3604565"/>
            <a:ext cx="307238" cy="30723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733288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WhatsApp pessoal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5733288" y="37307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Lotado, sem histórico, no celular do vendedor.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502920" y="452628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é falta de esforço. É falta de sistema.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QUE TRAVA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3 dores que travam o crescimento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316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Têm a mesma raiz: informação espalhada.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2615184" cy="278892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58952" y="1938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5237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cliente some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58952" y="2926080"/>
            <a:ext cx="2139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Recall manual fica em ~3% dos clientes.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8952" y="3803904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E0F2FE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803904"/>
            <a:ext cx="1883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4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cliente perdido = R$ 800–1.500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01568" y="1755648"/>
            <a:ext cx="2615184" cy="278892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657600" y="1938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657600" y="25237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Caos de sistemas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657600" y="2926080"/>
            <a:ext cx="2139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PDV, estoque, laboratório e caixa soltos.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3657600" y="3803904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E0F2FE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767328" y="3803904"/>
            <a:ext cx="1883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4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mesmo dado digitado 3×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300216" y="1755648"/>
            <a:ext cx="2615184" cy="2788920"/>
          </a:xfrm>
          <a:prstGeom prst="roundRect">
            <a:avLst>
              <a:gd name="adj" fmla="val 3147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556248" y="1938528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6556248" y="252374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escala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56248" y="2926080"/>
            <a:ext cx="2139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visão consolidada da rede.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556248" y="3803904"/>
            <a:ext cx="2103120" cy="566928"/>
          </a:xfrm>
          <a:prstGeom prst="roundRect">
            <a:avLst>
              <a:gd name="adj" fmla="val 9677"/>
            </a:avLst>
          </a:prstGeom>
          <a:solidFill>
            <a:srgbClr val="E0F2FE"/>
          </a:solidFill>
          <a:ln w="9525">
            <a:solidFill>
              <a:srgbClr val="E0F2F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65976" y="3803904"/>
            <a:ext cx="1883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C4A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2ª loja é dor. A 5ª, pesadelo.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VIRADA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ecossistema, não mais um programa.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737360"/>
            <a:ext cx="4114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 único — entra uma vez, usa tudo.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loja vê só o que é dela.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dado entra uma vez e flui sozinho.</a:t>
            </a:r>
            <a:endParaRPr lang="en-US" sz="155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Acaba a planilha solta e o caderno do laboratório.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892040" y="1572768"/>
            <a:ext cx="37490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892040" y="1572768"/>
            <a:ext cx="3749040" cy="182880"/>
          </a:xfrm>
          <a:prstGeom prst="rect">
            <a:avLst/>
          </a:prstGeom>
          <a:solidFill>
            <a:srgbClr val="ECEEF1"/>
          </a:solidFill>
          <a:ln/>
        </p:spPr>
      </p:sp>
      <p:sp>
        <p:nvSpPr>
          <p:cNvPr id="8" name="Shape 5"/>
          <p:cNvSpPr/>
          <p:nvPr/>
        </p:nvSpPr>
        <p:spPr>
          <a:xfrm>
            <a:off x="5001768" y="1629461"/>
            <a:ext cx="68580" cy="68580"/>
          </a:xfrm>
          <a:prstGeom prst="ellipse">
            <a:avLst/>
          </a:prstGeom>
          <a:solidFill>
            <a:srgbClr val="E5675E"/>
          </a:solidFill>
          <a:ln/>
        </p:spPr>
      </p:sp>
      <p:sp>
        <p:nvSpPr>
          <p:cNvPr id="9" name="Shape 6"/>
          <p:cNvSpPr/>
          <p:nvPr/>
        </p:nvSpPr>
        <p:spPr>
          <a:xfrm>
            <a:off x="5138928" y="1629461"/>
            <a:ext cx="68580" cy="68580"/>
          </a:xfrm>
          <a:prstGeom prst="ellipse">
            <a:avLst/>
          </a:prstGeom>
          <a:solidFill>
            <a:srgbClr val="F4BE50"/>
          </a:solidFill>
          <a:ln/>
        </p:spPr>
      </p:sp>
      <p:sp>
        <p:nvSpPr>
          <p:cNvPr id="10" name="Shape 7"/>
          <p:cNvSpPr/>
          <p:nvPr/>
        </p:nvSpPr>
        <p:spPr>
          <a:xfrm>
            <a:off x="5276088" y="1629461"/>
            <a:ext cx="68580" cy="68580"/>
          </a:xfrm>
          <a:prstGeom prst="ellipse">
            <a:avLst/>
          </a:prstGeom>
          <a:solidFill>
            <a:srgbClr val="64C25A"/>
          </a:solidFill>
          <a:ln/>
        </p:spPr>
      </p:sp>
      <p:pic>
        <p:nvPicPr>
          <p:cNvPr id="11" name="Image 1" descr="D:/tmp/clearix-deck/caps_clean/hu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937760" y="1801368"/>
            <a:ext cx="3657600" cy="20116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892040" y="3931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os apps do ecossistema, num login só.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840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Clearix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PROVA REAL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188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Isto não é maquete.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02920" y="17556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Já roda uma rede de verdade, em produção.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R$ 12,2M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faturados no histórico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395728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20.597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2395728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vendas processadas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mil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502920" y="3657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ordens de laboratório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395728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mil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2395728" y="3657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pacientes atendidos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0" y="1993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7E97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Faturamento acumulado (R$ milhões)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434840" y="2240280"/>
          <a:ext cx="42976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 13"/>
          <p:cNvSpPr/>
          <p:nvPr/>
        </p:nvSpPr>
        <p:spPr>
          <a:xfrm>
            <a:off x="50292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97A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Grupo Mello — 10 lojas, 6 anos de operação 100% no Clearix.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fluxo só, da venda à entrega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316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ninguém digitar a mesma coisa duas vezes.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1783080" cy="18745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43000" y="233172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759" y="2462479"/>
            <a:ext cx="241402" cy="24140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2920" y="28895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0292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Vender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94360" y="35844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PDV + carnê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621585" y="2148840"/>
            <a:ext cx="1783080" cy="18745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261665" y="233172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2424" y="2462479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621585" y="28895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2621585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Produzir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2713025" y="35844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em kanban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740250" y="2148840"/>
            <a:ext cx="1783080" cy="18745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380330" y="233172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1089" y="2462479"/>
            <a:ext cx="241402" cy="24140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40250" y="28895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4740250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Cobrar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4831690" y="35844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858914" y="2148840"/>
            <a:ext cx="1783080" cy="18745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498994" y="233172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9754" y="2462479"/>
            <a:ext cx="241402" cy="24140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58914" y="288950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1"/>
          <p:cNvSpPr/>
          <p:nvPr/>
        </p:nvSpPr>
        <p:spPr>
          <a:xfrm>
            <a:off x="6858914" y="323697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Avisar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6950354" y="358444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WhatsApp + portal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2267712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800" dirty="0"/>
          </a:p>
        </p:txBody>
      </p:sp>
      <p:sp>
        <p:nvSpPr>
          <p:cNvPr id="31" name="Text 24"/>
          <p:cNvSpPr/>
          <p:nvPr/>
        </p:nvSpPr>
        <p:spPr>
          <a:xfrm>
            <a:off x="4386377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800" dirty="0"/>
          </a:p>
        </p:txBody>
      </p:sp>
      <p:sp>
        <p:nvSpPr>
          <p:cNvPr id="32" name="Text 25"/>
          <p:cNvSpPr/>
          <p:nvPr/>
        </p:nvSpPr>
        <p:spPr>
          <a:xfrm>
            <a:off x="6505042" y="27432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800" dirty="0"/>
          </a:p>
        </p:txBody>
      </p:sp>
      <p:sp>
        <p:nvSpPr>
          <p:cNvPr id="33" name="Text 26"/>
          <p:cNvSpPr/>
          <p:nvPr/>
        </p:nvSpPr>
        <p:spPr>
          <a:xfrm>
            <a:off x="502920" y="422452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etapa alimenta a próxima automaticamente.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PRODUTO RODANDO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Vender e produzir — telas reais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517904"/>
            <a:ext cx="39319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1517904"/>
            <a:ext cx="3931920" cy="182880"/>
          </a:xfrm>
          <a:prstGeom prst="rect">
            <a:avLst/>
          </a:prstGeom>
          <a:solidFill>
            <a:srgbClr val="ECEEF1"/>
          </a:solidFill>
          <a:ln/>
        </p:spPr>
      </p:sp>
      <p:sp>
        <p:nvSpPr>
          <p:cNvPr id="7" name="Shape 4"/>
          <p:cNvSpPr/>
          <p:nvPr/>
        </p:nvSpPr>
        <p:spPr>
          <a:xfrm>
            <a:off x="612648" y="1574597"/>
            <a:ext cx="68580" cy="68580"/>
          </a:xfrm>
          <a:prstGeom prst="ellipse">
            <a:avLst/>
          </a:prstGeom>
          <a:solidFill>
            <a:srgbClr val="E5675E"/>
          </a:solidFill>
          <a:ln/>
        </p:spPr>
      </p:sp>
      <p:sp>
        <p:nvSpPr>
          <p:cNvPr id="8" name="Shape 5"/>
          <p:cNvSpPr/>
          <p:nvPr/>
        </p:nvSpPr>
        <p:spPr>
          <a:xfrm>
            <a:off x="749808" y="1574597"/>
            <a:ext cx="68580" cy="68580"/>
          </a:xfrm>
          <a:prstGeom prst="ellipse">
            <a:avLst/>
          </a:prstGeom>
          <a:solidFill>
            <a:srgbClr val="F4BE50"/>
          </a:solidFill>
          <a:ln/>
        </p:spPr>
      </p:sp>
      <p:sp>
        <p:nvSpPr>
          <p:cNvPr id="9" name="Shape 6"/>
          <p:cNvSpPr/>
          <p:nvPr/>
        </p:nvSpPr>
        <p:spPr>
          <a:xfrm>
            <a:off x="886968" y="1574597"/>
            <a:ext cx="68580" cy="68580"/>
          </a:xfrm>
          <a:prstGeom prst="ellipse">
            <a:avLst/>
          </a:prstGeom>
          <a:solidFill>
            <a:srgbClr val="64C25A"/>
          </a:solidFill>
          <a:ln/>
        </p:spPr>
      </p:sp>
      <p:pic>
        <p:nvPicPr>
          <p:cNvPr id="10" name="Image 1" descr="D:/tmp/clearix-deck/caps_clean/venda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746504"/>
            <a:ext cx="3840480" cy="20574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09160" y="1517904"/>
            <a:ext cx="39319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709160" y="1517904"/>
            <a:ext cx="3931920" cy="182880"/>
          </a:xfrm>
          <a:prstGeom prst="rect">
            <a:avLst/>
          </a:prstGeom>
          <a:solidFill>
            <a:srgbClr val="ECEEF1"/>
          </a:solidFill>
          <a:ln/>
        </p:spPr>
      </p:sp>
      <p:sp>
        <p:nvSpPr>
          <p:cNvPr id="13" name="Shape 9"/>
          <p:cNvSpPr/>
          <p:nvPr/>
        </p:nvSpPr>
        <p:spPr>
          <a:xfrm>
            <a:off x="4818888" y="1574597"/>
            <a:ext cx="68580" cy="68580"/>
          </a:xfrm>
          <a:prstGeom prst="ellipse">
            <a:avLst/>
          </a:prstGeom>
          <a:solidFill>
            <a:srgbClr val="E5675E"/>
          </a:solidFill>
          <a:ln/>
        </p:spPr>
      </p:sp>
      <p:sp>
        <p:nvSpPr>
          <p:cNvPr id="14" name="Shape 10"/>
          <p:cNvSpPr/>
          <p:nvPr/>
        </p:nvSpPr>
        <p:spPr>
          <a:xfrm>
            <a:off x="4956048" y="1574597"/>
            <a:ext cx="68580" cy="68580"/>
          </a:xfrm>
          <a:prstGeom prst="ellipse">
            <a:avLst/>
          </a:prstGeom>
          <a:solidFill>
            <a:srgbClr val="F4BE50"/>
          </a:solidFill>
          <a:ln/>
        </p:spPr>
      </p:sp>
      <p:sp>
        <p:nvSpPr>
          <p:cNvPr id="15" name="Shape 11"/>
          <p:cNvSpPr/>
          <p:nvPr/>
        </p:nvSpPr>
        <p:spPr>
          <a:xfrm>
            <a:off x="5093208" y="1574597"/>
            <a:ext cx="68580" cy="68580"/>
          </a:xfrm>
          <a:prstGeom prst="ellipse">
            <a:avLst/>
          </a:prstGeom>
          <a:solidFill>
            <a:srgbClr val="64C25A"/>
          </a:solidFill>
          <a:ln/>
        </p:spPr>
      </p:sp>
      <p:pic>
        <p:nvPicPr>
          <p:cNvPr id="16" name="Image 2" descr="D:/tmp/clearix-deck/caps_clean/dc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54880" y="1746504"/>
            <a:ext cx="3840480" cy="2057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29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Vender   </a:t>
            </a:r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PDV + carnê próprio.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470916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Produzir   </a:t>
            </a:r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do laboratório, do pedido à entrega.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Telas reais do Clearix · ambiente de demonstração (rede fictícia “Mais Olhar”).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PRODUTO RODANDO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Cobrar e atender — telas reais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517904"/>
            <a:ext cx="39319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1517904"/>
            <a:ext cx="3931920" cy="182880"/>
          </a:xfrm>
          <a:prstGeom prst="rect">
            <a:avLst/>
          </a:prstGeom>
          <a:solidFill>
            <a:srgbClr val="ECEEF1"/>
          </a:solidFill>
          <a:ln/>
        </p:spPr>
      </p:sp>
      <p:sp>
        <p:nvSpPr>
          <p:cNvPr id="7" name="Shape 4"/>
          <p:cNvSpPr/>
          <p:nvPr/>
        </p:nvSpPr>
        <p:spPr>
          <a:xfrm>
            <a:off x="612648" y="1574597"/>
            <a:ext cx="68580" cy="68580"/>
          </a:xfrm>
          <a:prstGeom prst="ellipse">
            <a:avLst/>
          </a:prstGeom>
          <a:solidFill>
            <a:srgbClr val="E5675E"/>
          </a:solidFill>
          <a:ln/>
        </p:spPr>
      </p:sp>
      <p:sp>
        <p:nvSpPr>
          <p:cNvPr id="8" name="Shape 5"/>
          <p:cNvSpPr/>
          <p:nvPr/>
        </p:nvSpPr>
        <p:spPr>
          <a:xfrm>
            <a:off x="749808" y="1574597"/>
            <a:ext cx="68580" cy="68580"/>
          </a:xfrm>
          <a:prstGeom prst="ellipse">
            <a:avLst/>
          </a:prstGeom>
          <a:solidFill>
            <a:srgbClr val="F4BE50"/>
          </a:solidFill>
          <a:ln/>
        </p:spPr>
      </p:sp>
      <p:sp>
        <p:nvSpPr>
          <p:cNvPr id="9" name="Shape 6"/>
          <p:cNvSpPr/>
          <p:nvPr/>
        </p:nvSpPr>
        <p:spPr>
          <a:xfrm>
            <a:off x="886968" y="1574597"/>
            <a:ext cx="68580" cy="68580"/>
          </a:xfrm>
          <a:prstGeom prst="ellipse">
            <a:avLst/>
          </a:prstGeom>
          <a:solidFill>
            <a:srgbClr val="64C25A"/>
          </a:solidFill>
          <a:ln/>
        </p:spPr>
      </p:sp>
      <p:pic>
        <p:nvPicPr>
          <p:cNvPr id="10" name="Image 1" descr="D:/tmp/clearix-deck/caps_clean/financ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746504"/>
            <a:ext cx="3840480" cy="20574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09160" y="1517904"/>
            <a:ext cx="393192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709160" y="1517904"/>
            <a:ext cx="3931920" cy="182880"/>
          </a:xfrm>
          <a:prstGeom prst="rect">
            <a:avLst/>
          </a:prstGeom>
          <a:solidFill>
            <a:srgbClr val="ECEEF1"/>
          </a:solidFill>
          <a:ln/>
        </p:spPr>
      </p:sp>
      <p:sp>
        <p:nvSpPr>
          <p:cNvPr id="13" name="Shape 9"/>
          <p:cNvSpPr/>
          <p:nvPr/>
        </p:nvSpPr>
        <p:spPr>
          <a:xfrm>
            <a:off x="4818888" y="1574597"/>
            <a:ext cx="68580" cy="68580"/>
          </a:xfrm>
          <a:prstGeom prst="ellipse">
            <a:avLst/>
          </a:prstGeom>
          <a:solidFill>
            <a:srgbClr val="E5675E"/>
          </a:solidFill>
          <a:ln/>
        </p:spPr>
      </p:sp>
      <p:sp>
        <p:nvSpPr>
          <p:cNvPr id="14" name="Shape 10"/>
          <p:cNvSpPr/>
          <p:nvPr/>
        </p:nvSpPr>
        <p:spPr>
          <a:xfrm>
            <a:off x="4956048" y="1574597"/>
            <a:ext cx="68580" cy="68580"/>
          </a:xfrm>
          <a:prstGeom prst="ellipse">
            <a:avLst/>
          </a:prstGeom>
          <a:solidFill>
            <a:srgbClr val="F4BE50"/>
          </a:solidFill>
          <a:ln/>
        </p:spPr>
      </p:sp>
      <p:sp>
        <p:nvSpPr>
          <p:cNvPr id="15" name="Shape 11"/>
          <p:cNvSpPr/>
          <p:nvPr/>
        </p:nvSpPr>
        <p:spPr>
          <a:xfrm>
            <a:off x="5093208" y="1574597"/>
            <a:ext cx="68580" cy="68580"/>
          </a:xfrm>
          <a:prstGeom prst="ellipse">
            <a:avLst/>
          </a:prstGeom>
          <a:solidFill>
            <a:srgbClr val="64C25A"/>
          </a:solidFill>
          <a:ln/>
        </p:spPr>
      </p:sp>
      <p:pic>
        <p:nvPicPr>
          <p:cNvPr id="16" name="Image 2" descr="D:/tmp/clearix-deck/caps_clean/porta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54880" y="1746504"/>
            <a:ext cx="3840480" cy="20574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292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Cobrar   </a:t>
            </a:r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Carteira a receber, fluxo e alertas.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4709160" y="39502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Atender   </a:t>
            </a:r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do paciente sem senha, por link no WhatsApp.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Telas reais do Clearix · ambiente de demonstração (rede fictícia “Mais Olhar”).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VISÃO DE DONO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dono pergunta. A IA responde.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50749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BE0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02920" y="1463040"/>
            <a:ext cx="5074920" cy="182880"/>
          </a:xfrm>
          <a:prstGeom prst="rect">
            <a:avLst/>
          </a:prstGeom>
          <a:solidFill>
            <a:srgbClr val="ECEEF1"/>
          </a:solidFill>
          <a:ln/>
        </p:spPr>
      </p:sp>
      <p:sp>
        <p:nvSpPr>
          <p:cNvPr id="7" name="Shape 4"/>
          <p:cNvSpPr/>
          <p:nvPr/>
        </p:nvSpPr>
        <p:spPr>
          <a:xfrm>
            <a:off x="612648" y="1519733"/>
            <a:ext cx="68580" cy="68580"/>
          </a:xfrm>
          <a:prstGeom prst="ellipse">
            <a:avLst/>
          </a:prstGeom>
          <a:solidFill>
            <a:srgbClr val="E5675E"/>
          </a:solidFill>
          <a:ln/>
        </p:spPr>
      </p:sp>
      <p:sp>
        <p:nvSpPr>
          <p:cNvPr id="8" name="Shape 5"/>
          <p:cNvSpPr/>
          <p:nvPr/>
        </p:nvSpPr>
        <p:spPr>
          <a:xfrm>
            <a:off x="749808" y="1519733"/>
            <a:ext cx="68580" cy="68580"/>
          </a:xfrm>
          <a:prstGeom prst="ellipse">
            <a:avLst/>
          </a:prstGeom>
          <a:solidFill>
            <a:srgbClr val="F4BE50"/>
          </a:solidFill>
          <a:ln/>
        </p:spPr>
      </p:sp>
      <p:sp>
        <p:nvSpPr>
          <p:cNvPr id="9" name="Shape 6"/>
          <p:cNvSpPr/>
          <p:nvPr/>
        </p:nvSpPr>
        <p:spPr>
          <a:xfrm>
            <a:off x="886968" y="1519733"/>
            <a:ext cx="68580" cy="68580"/>
          </a:xfrm>
          <a:prstGeom prst="ellipse">
            <a:avLst/>
          </a:prstGeom>
          <a:solidFill>
            <a:srgbClr val="64C25A"/>
          </a:solidFill>
          <a:ln/>
        </p:spPr>
      </p:sp>
      <p:pic>
        <p:nvPicPr>
          <p:cNvPr id="10" name="Image 1" descr="D:/tmp/clearix-deck/caps_clean/bi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1691640"/>
            <a:ext cx="4983480" cy="269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870448" y="1810512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8"/>
          <p:cNvSpPr/>
          <p:nvPr/>
        </p:nvSpPr>
        <p:spPr>
          <a:xfrm>
            <a:off x="6071616" y="17556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Saúde da rede num painel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071616" y="20848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Vendas, financeiro e produção, consolidados.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870448" y="2651760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Text 11"/>
          <p:cNvSpPr/>
          <p:nvPr/>
        </p:nvSpPr>
        <p:spPr>
          <a:xfrm>
            <a:off x="6071616" y="259689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com IA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071616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Alertas, recomendações e prioridades automáticos.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70448" y="3493008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8" name="Text 14"/>
          <p:cNvSpPr/>
          <p:nvPr/>
        </p:nvSpPr>
        <p:spPr>
          <a:xfrm>
            <a:off x="6071616" y="34381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Pergunte em português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6071616" y="3767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“Como foi junho?” — e a IA responde.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02920" y="45262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Tela real do BI · ambiente de demonstração.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DIFERENCIAIS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(quase) ninguém mais tem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664208"/>
            <a:ext cx="2615184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920240"/>
            <a:ext cx="603504" cy="603504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151" y="2077151"/>
            <a:ext cx="289682" cy="28968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267004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Portal do paciente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senha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777240" y="3401568"/>
            <a:ext cx="2139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Acesso por link no WhatsApp: receita, histórico e status do pedido. LGPD por design.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401568" y="1664208"/>
            <a:ext cx="2615184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675888" y="1920240"/>
            <a:ext cx="603504" cy="603504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2799" y="2077151"/>
            <a:ext cx="289682" cy="28968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75888" y="267004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Motor de lentes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canônico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675888" y="3401568"/>
            <a:ext cx="2139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Busque “Varilux” e veja todas as opções, de todos os fornecedores, com preço e margem.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00216" y="1664208"/>
            <a:ext cx="2615184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574536" y="1920240"/>
            <a:ext cx="603504" cy="603504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447" y="2077151"/>
            <a:ext cx="289682" cy="28968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574536" y="2670048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 com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inteligência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6574536" y="3401568"/>
            <a:ext cx="2139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Pergunte em português. Veja de quais bairros vêm os seus clientes.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02920" y="440740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 ainda vem por aí: prova virtual de óculos pelo celular (AR).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INVESTIMENTO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Quanto custa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02920" y="1517904"/>
            <a:ext cx="8138160" cy="585216"/>
          </a:xfrm>
          <a:prstGeom prst="roundRect">
            <a:avLst>
              <a:gd name="adj" fmla="val 10938"/>
            </a:avLst>
          </a:prstGeom>
          <a:solidFill>
            <a:srgbClr val="1A3A5C"/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517904"/>
            <a:ext cx="7772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6E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Recriar um sistema assim do zero custaria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de R$ 7,7 milhões</a:t>
            </a:r>
            <a:pPr algn="ctr" indent="0" marL="0">
              <a:buNone/>
            </a:pPr>
            <a:r>
              <a:rPr lang="en-US" sz="1400" dirty="0">
                <a:solidFill>
                  <a:srgbClr val="D6E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mais de um ano.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31720"/>
            <a:ext cx="261518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58952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Essencial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58952" y="296265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R$ 349</a:t>
            </a:r>
            <a:pPr indent="0" marL="0">
              <a:buNone/>
            </a:pPr>
            <a:r>
              <a:rPr lang="en-US" sz="120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/mês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58952" y="352958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Ótica solo — 3 a 5 pessoas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401568" y="2331720"/>
            <a:ext cx="2615184" cy="1783080"/>
          </a:xfrm>
          <a:prstGeom prst="roundRect">
            <a:avLst>
              <a:gd name="adj" fmla="val 4615"/>
            </a:avLst>
          </a:prstGeom>
          <a:solidFill>
            <a:srgbClr val="F0F9FF"/>
          </a:solidFill>
          <a:ln w="19050">
            <a:solidFill>
              <a:srgbClr val="06B6D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5760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ESCOLHIDO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657600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3657600" y="296265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R$ 899</a:t>
            </a:r>
            <a:pPr indent="0" marL="0">
              <a:buNone/>
            </a:pPr>
            <a:r>
              <a:rPr lang="en-US" sz="120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/mês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657600" y="352958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Multi-loja com laboratório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300216" y="2331720"/>
            <a:ext cx="2615184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556248" y="25420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Crescimento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6556248" y="2962656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R$ 1.499</a:t>
            </a:r>
            <a:pPr indent="0" marL="0">
              <a:buNone/>
            </a:pPr>
            <a:r>
              <a:rPr lang="en-US" sz="120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/mês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556248" y="352958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BI + IA + escala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02920" y="426110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fidelidade. Cancela quando quiser.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EXPERIMENTE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 acredite — entre e veja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316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Acesso às 3 lojas-modelo, com dados reais de operação.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2615184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1975104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8" name="Text 5"/>
          <p:cNvSpPr/>
          <p:nvPr/>
        </p:nvSpPr>
        <p:spPr>
          <a:xfrm>
            <a:off x="978408" y="18653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Essencial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26771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loja — operação enxuta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7797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ENTRA COMO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13639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9"/>
          <p:cNvSpPr/>
          <p:nvPr/>
        </p:nvSpPr>
        <p:spPr>
          <a:xfrm>
            <a:off x="996696" y="30723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Dono — vê tudo + BI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5528" y="350215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1"/>
          <p:cNvSpPr/>
          <p:nvPr/>
        </p:nvSpPr>
        <p:spPr>
          <a:xfrm>
            <a:off x="996696" y="343814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Gerente — operação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95528" y="386791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6" name="Text 13"/>
          <p:cNvSpPr/>
          <p:nvPr/>
        </p:nvSpPr>
        <p:spPr>
          <a:xfrm>
            <a:off x="996696" y="38039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 — balcão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401568" y="1737360"/>
            <a:ext cx="2615184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75888" y="1975104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9" name="Text 16"/>
          <p:cNvSpPr/>
          <p:nvPr/>
        </p:nvSpPr>
        <p:spPr>
          <a:xfrm>
            <a:off x="3877056" y="18653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75888" y="226771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Multi-loja com laboratório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75888" y="27797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ENTRA COMO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94176" y="313639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3" name="Text 20"/>
          <p:cNvSpPr/>
          <p:nvPr/>
        </p:nvSpPr>
        <p:spPr>
          <a:xfrm>
            <a:off x="3895344" y="30723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Dono — vê tudo + BI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3694176" y="350215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5" name="Text 22"/>
          <p:cNvSpPr/>
          <p:nvPr/>
        </p:nvSpPr>
        <p:spPr>
          <a:xfrm>
            <a:off x="3895344" y="343814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Gerente — operação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694176" y="386791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7" name="Text 24"/>
          <p:cNvSpPr/>
          <p:nvPr/>
        </p:nvSpPr>
        <p:spPr>
          <a:xfrm>
            <a:off x="3895344" y="38039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 — balcão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300216" y="1737360"/>
            <a:ext cx="2615184" cy="2560320"/>
          </a:xfrm>
          <a:prstGeom prst="roundRect">
            <a:avLst>
              <a:gd name="adj" fmla="val 3214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574536" y="1975104"/>
            <a:ext cx="128016" cy="128016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0" name="Text 27"/>
          <p:cNvSpPr/>
          <p:nvPr/>
        </p:nvSpPr>
        <p:spPr>
          <a:xfrm>
            <a:off x="6775704" y="18653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Crescimento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6574536" y="2267712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 + BI + IA + fidelidade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74536" y="27797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ENTRA COMO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592824" y="313639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4" name="Text 31"/>
          <p:cNvSpPr/>
          <p:nvPr/>
        </p:nvSpPr>
        <p:spPr>
          <a:xfrm>
            <a:off x="6793992" y="307238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Dono — vê tudo + BI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6592824" y="350215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6" name="Text 33"/>
          <p:cNvSpPr/>
          <p:nvPr/>
        </p:nvSpPr>
        <p:spPr>
          <a:xfrm>
            <a:off x="6793992" y="343814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Gerente — operação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6592824" y="3867912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38" name="Text 35"/>
          <p:cNvSpPr/>
          <p:nvPr/>
        </p:nvSpPr>
        <p:spPr>
          <a:xfrm>
            <a:off x="6793992" y="380390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 — balcão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502920" y="4425696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 com cada perfil e veja o sistema pelos olhos de quem usa — cada um enxerga só o que pode.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1148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411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Clearix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02920" y="9875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COMECE SEM RISCO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02920" y="12070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sua ótica, testada de verdade.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2A50B8"/>
          </a:solidFill>
          <a:ln w="9525">
            <a:solidFill>
              <a:srgbClr val="3B66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9224" y="2157984"/>
            <a:ext cx="365760" cy="365760"/>
          </a:xfrm>
          <a:prstGeom prst="ellipse">
            <a:avLst/>
          </a:prstGeom>
          <a:solidFill>
            <a:srgbClr val="22D3EE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2" y="2253082"/>
            <a:ext cx="175565" cy="17556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97864" y="205740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dias de teste com a sua empresa   </a:t>
            </a:r>
            <a:pPr indent="0" marL="0">
              <a:buNone/>
            </a:pPr>
            <a:r>
              <a:rPr lang="en-US" sz="1250" dirty="0">
                <a:solidFill>
                  <a:srgbClr val="CBD9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Cadastro real e funcionalidades completas. Você usa de verdade antes de decidir.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02920" y="2715768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2A50B8"/>
          </a:solidFill>
          <a:ln w="9525">
            <a:solidFill>
              <a:srgbClr val="3B66D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9224" y="2816352"/>
            <a:ext cx="365760" cy="365760"/>
          </a:xfrm>
          <a:prstGeom prst="ellipse">
            <a:avLst/>
          </a:prstGeom>
          <a:solidFill>
            <a:srgbClr val="22D3EE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2" y="2911450"/>
            <a:ext cx="175565" cy="17556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97864" y="2715768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30% OFF nos 3 primeiros meses   </a:t>
            </a:r>
            <a:pPr indent="0" marL="0">
              <a:buNone/>
            </a:pPr>
            <a:r>
              <a:rPr lang="en-US" sz="1250" dirty="0">
                <a:solidFill>
                  <a:srgbClr val="CBD9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desconto entra quando você virar cliente.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502920" y="3374136"/>
            <a:ext cx="8138160" cy="566928"/>
          </a:xfrm>
          <a:prstGeom prst="roundRect">
            <a:avLst>
              <a:gd name="adj" fmla="val 12903"/>
            </a:avLst>
          </a:prstGeom>
          <a:solidFill>
            <a:srgbClr val="2A50B8"/>
          </a:solidFill>
          <a:ln w="9525">
            <a:solidFill>
              <a:srgbClr val="3B66D6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9224" y="3474720"/>
            <a:ext cx="365760" cy="365760"/>
          </a:xfrm>
          <a:prstGeom prst="ellipse">
            <a:avLst/>
          </a:prstGeom>
          <a:solidFill>
            <a:srgbClr val="22D3EE"/>
          </a:solidFill>
          <a:ln/>
          <a:effectLst>
            <a:outerShdw sx="100000" sy="100000" kx="0" ky="0" algn="bl" rotWithShape="0" blurRad="88900" dist="50800" dir="5400000">
              <a:srgbClr val="06B6D4">
                <a:alpha val="25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322" y="3569818"/>
            <a:ext cx="175565" cy="17556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97864" y="3374136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Migração da sua base: opcional   </a:t>
            </a:r>
            <a:pPr indent="0" marL="0">
              <a:buNone/>
            </a:pPr>
            <a:r>
              <a:rPr lang="en-US" sz="1250" dirty="0">
                <a:solidFill>
                  <a:srgbClr val="CBD9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Orçada conforme o volume de dados — você decide se quer.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502920" y="40233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9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Implantação (setup) isenta durante o teste — cobrada só quando você vira plano.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02920" y="437083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EC0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não compra confiando na minha palavra. Você usa — e decide depois.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PASSO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começa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316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Implantação em menos de 30 dias, sem parar a operação.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58952" y="2103120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101600" dist="50800" dir="5400000">
              <a:srgbClr val="06B6D4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58952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58952" y="27889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acessa as 3 lojas-modelo hoje.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401568" y="187452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103120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101600" dist="50800" dir="5400000">
              <a:srgbClr val="06B6D4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5760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57600" y="27889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Cadastro da sua empresa: 90 dias de teste.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00216" y="1874520"/>
            <a:ext cx="2615184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56248" y="2103120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sx="100000" sy="100000" kx="0" ky="0" algn="bl" rotWithShape="0" blurRad="101600" dist="50800" dir="5400000">
              <a:srgbClr val="06B6D4">
                <a:alpha val="3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56248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6556248" y="2788920"/>
            <a:ext cx="21396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Treinamos a equipe; migração opcional.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2194560" y="3794760"/>
            <a:ext cx="4754880" cy="713232"/>
          </a:xfrm>
          <a:prstGeom prst="roundRect">
            <a:avLst>
              <a:gd name="adj" fmla="val 12821"/>
            </a:avLst>
          </a:prstGeom>
          <a:solidFill>
            <a:srgbClr val="2563EB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194560" y="3794760"/>
            <a:ext cx="4754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Vamos liberar o seu acesso de teste agora?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310896"/>
            <a:ext cx="256032" cy="25603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6B6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SEUS ACESSOS DE TESTE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7132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9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Dois níveis para você explorar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502920" y="1316736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Acesse clearix.app.br → botão Entrar. A senha vai na mensagem.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755648"/>
            <a:ext cx="39319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19019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NÍVEIS DE PRODUTO (planos)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95528" y="2340864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9" name="Text 6"/>
          <p:cNvSpPr/>
          <p:nvPr/>
        </p:nvSpPr>
        <p:spPr>
          <a:xfrm>
            <a:off x="99669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Essencial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96696" y="25694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admin@sandbox-essencial.clearix.dev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95528" y="3017520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9"/>
          <p:cNvSpPr/>
          <p:nvPr/>
        </p:nvSpPr>
        <p:spPr>
          <a:xfrm>
            <a:off x="996696" y="29626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996696" y="3246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admin@sandbox-controle.clearix.dev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95528" y="3694176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5" name="Text 12"/>
          <p:cNvSpPr/>
          <p:nvPr/>
        </p:nvSpPr>
        <p:spPr>
          <a:xfrm>
            <a:off x="996696" y="3639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Crescimento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996696" y="3922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admin@sandbox-crescimento.clearix.dev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09160" y="1755648"/>
            <a:ext cx="3931920" cy="260604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7E5E4"/>
            </a:solidFill>
            <a:prstDash val="solid"/>
          </a:ln>
          <a:effectLst>
            <a:outerShdw sx="100000" sy="100000" kx="0" ky="0" algn="bl" rotWithShape="0" blurRad="114300" dist="38100" dir="8100000">
              <a:srgbClr val="1A3A5C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4983480" y="19019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NÍVEIS DE ACESSO (em cada plano)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01768" y="2340864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0" name="Text 17"/>
          <p:cNvSpPr/>
          <p:nvPr/>
        </p:nvSpPr>
        <p:spPr>
          <a:xfrm>
            <a:off x="520293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Dono  </a:t>
            </a:r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vê tudo + BI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202936" y="25694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login: admin@…  (mesma senha)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001768" y="3017520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3" name="Text 20"/>
          <p:cNvSpPr/>
          <p:nvPr/>
        </p:nvSpPr>
        <p:spPr>
          <a:xfrm>
            <a:off x="5202936" y="29626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Gerente  </a:t>
            </a:r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operação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202936" y="3246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login: gerente@…  (mesma senha)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001768" y="3694176"/>
            <a:ext cx="109728" cy="109728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26" name="Text 23"/>
          <p:cNvSpPr/>
          <p:nvPr/>
        </p:nvSpPr>
        <p:spPr>
          <a:xfrm>
            <a:off x="5202936" y="36393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Vendedor  </a:t>
            </a:r>
            <a:pPr indent="0" marL="0">
              <a:buNone/>
            </a:pPr>
            <a:r>
              <a:rPr lang="en-US" sz="1400" dirty="0">
                <a:solidFill>
                  <a:srgbClr val="575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balcão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5202936" y="3922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login: vendedor@…  (mesma senha)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45262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858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Troque só o prefixo do e-mail (admin / gerente / vendedor). Cada perfil enxerga só o que pode.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>
            <a:alphaModFix amt="8000"/>
          </a:blip>
          <a:stretch>
            <a:fillRect/>
          </a:stretch>
        </p:blipFill>
        <p:spPr>
          <a:xfrm>
            <a:off x="6309360" y="457200"/>
            <a:ext cx="3840480" cy="384048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058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Clearix</a:t>
            </a:r>
            <a:endParaRPr lang="en-US" sz="2000" dirty="0"/>
          </a:p>
        </p:txBody>
      </p:sp>
      <p:sp>
        <p:nvSpPr>
          <p:cNvPr id="5" name="Text 1"/>
          <p:cNvSpPr/>
          <p:nvPr/>
        </p:nvSpPr>
        <p:spPr>
          <a:xfrm>
            <a:off x="502920" y="173736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Sua ótica operando como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 nacional — começando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 semana.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521208" y="3675888"/>
            <a:ext cx="128016" cy="12801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7" name="Text 3"/>
          <p:cNvSpPr/>
          <p:nvPr/>
        </p:nvSpPr>
        <p:spPr>
          <a:xfrm>
            <a:off x="758952" y="353872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6D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Gilberto Junior (Junior)   ·   (11) 98602-7415   ·   clearix.app.br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Clearix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Clearix — Pitch Óticas</dc:title>
  <dc:subject>PptxGenJS Presentation</dc:subject>
  <dc:creator>DIGIAI</dc:creator>
  <cp:lastModifiedBy>DIGIAI</cp:lastModifiedBy>
  <cp:revision>1</cp:revision>
  <dcterms:created xsi:type="dcterms:W3CDTF">2026-06-18T23:04:42Z</dcterms:created>
  <dcterms:modified xsi:type="dcterms:W3CDTF">2026-06-18T23:04:42Z</dcterms:modified>
</cp:coreProperties>
</file>